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53" r:id="rId4"/>
    <p:sldId id="350" r:id="rId5"/>
    <p:sldId id="358" r:id="rId6"/>
    <p:sldId id="356" r:id="rId7"/>
    <p:sldId id="359" r:id="rId8"/>
    <p:sldId id="360" r:id="rId9"/>
    <p:sldId id="361" r:id="rId10"/>
    <p:sldId id="362" r:id="rId11"/>
    <p:sldId id="372" r:id="rId12"/>
    <p:sldId id="373" r:id="rId13"/>
    <p:sldId id="374" r:id="rId14"/>
    <p:sldId id="375" r:id="rId15"/>
    <p:sldId id="363" r:id="rId16"/>
    <p:sldId id="368" r:id="rId17"/>
    <p:sldId id="369" r:id="rId18"/>
    <p:sldId id="370" r:id="rId19"/>
    <p:sldId id="367" r:id="rId20"/>
    <p:sldId id="357" r:id="rId21"/>
    <p:sldId id="342" r:id="rId22"/>
  </p:sldIdLst>
  <p:sldSz cx="12192000" cy="6858000"/>
  <p:notesSz cx="6954838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man Old Style" panose="020506040505050202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57EB5-4B4A-42ED-A070-5231D48C77BE}" v="25" dt="2025-12-16T08:01:02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7" y="-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anya Maloth" userId="7fbef0e6225bce67" providerId="LiveId" clId="{4941B129-C194-4DBC-939C-5C6E3154BCA5}"/>
    <pc:docChg chg="undo custSel addSld modSld">
      <pc:chgData name="Lavanya Maloth" userId="7fbef0e6225bce67" providerId="LiveId" clId="{4941B129-C194-4DBC-939C-5C6E3154BCA5}" dt="2026-04-21T07:52:31.268" v="149" actId="20577"/>
      <pc:docMkLst>
        <pc:docMk/>
      </pc:docMkLst>
      <pc:sldChg chg="modSp mod">
        <pc:chgData name="Lavanya Maloth" userId="7fbef0e6225bce67" providerId="LiveId" clId="{4941B129-C194-4DBC-939C-5C6E3154BCA5}" dt="2026-04-21T07:52:31.268" v="149" actId="20577"/>
        <pc:sldMkLst>
          <pc:docMk/>
          <pc:sldMk cId="1193935859" sldId="359"/>
        </pc:sldMkLst>
        <pc:spChg chg="mod">
          <ac:chgData name="Lavanya Maloth" userId="7fbef0e6225bce67" providerId="LiveId" clId="{4941B129-C194-4DBC-939C-5C6E3154BCA5}" dt="2026-04-21T07:52:31.268" v="149" actId="20577"/>
          <ac:spMkLst>
            <pc:docMk/>
            <pc:sldMk cId="1193935859" sldId="359"/>
            <ac:spMk id="10" creationId="{02C1F998-CEFF-F806-91D0-03FA8A6C86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pPr>
              <a:defRPr/>
            </a:pPr>
            <a:fld id="{0D537B2C-B9FD-47DB-91C4-8606B3AEE4E2}" type="datetimeFigureOut">
              <a:rPr lang="en-US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1FD847D6-CB21-4E2E-B3B5-6549624666A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C3C39CB-B4C9-4DCE-AD9E-39F10ADFA5C3}" type="datetimeFigureOut">
              <a:rPr lang="en-US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3EF142-6F38-4AD1-AB0A-BFE2FCF31E1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60563"/>
            <a:ext cx="9144000" cy="127793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34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BF479A-0BDD-48BE-92E1-39A5437B6BC8}" type="slidenum">
              <a:rPr lang="en-US" altLang="en-US"/>
              <a:t>‹#›</a:t>
            </a:fld>
            <a:endParaRPr lang="en-US" alt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230" y="224178"/>
            <a:ext cx="1176022" cy="9983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b="0">
                <a:solidFill>
                  <a:schemeClr val="tx1"/>
                </a:solidFill>
              </a:defRPr>
            </a:lvl1pPr>
            <a:lvl2pPr algn="just">
              <a:defRPr b="0">
                <a:solidFill>
                  <a:schemeClr val="tx1"/>
                </a:solidFill>
              </a:defRPr>
            </a:lvl2pPr>
            <a:lvl3pPr algn="just">
              <a:defRPr b="0">
                <a:solidFill>
                  <a:schemeClr val="tx1"/>
                </a:solidFill>
              </a:defRPr>
            </a:lvl3pPr>
            <a:lvl4pPr algn="just">
              <a:defRPr b="0">
                <a:solidFill>
                  <a:schemeClr val="tx1"/>
                </a:solidFill>
              </a:defRPr>
            </a:lvl4pPr>
            <a:lvl5pPr algn="just"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3306" y="645804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96E056-3901-41CB-802B-E67DADB7F3B2}" type="slidenum">
              <a:rPr lang="en-US" altLang="en-US"/>
              <a:t>‹#›</a:t>
            </a:fld>
            <a:endParaRPr lang="en-US" alt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just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9A464-761B-497E-A9EC-21A070F834F6}" type="slidenum">
              <a:rPr lang="en-US" altLang="en-US"/>
              <a:t>‹#›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509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509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3A295C-00CF-4B3D-B3C7-2A9DC3CDDE75}" type="slidenum">
              <a:rPr lang="en-US" altLang="en-US"/>
              <a:t>‹#›</a:t>
            </a:fld>
            <a:endParaRPr lang="en-US" alt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128713" y="138113"/>
            <a:ext cx="9767887" cy="595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Uday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28713" y="1090613"/>
            <a:ext cx="9767887" cy="4818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fld id="{453AA481-BFE3-42B3-A623-3169D7EACBAD}" type="datetime2">
              <a:rPr lang="en-US"/>
              <a:t>Tuesday, April 21,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BVRIT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400" b="1" smtClean="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A8FB41C8-7EC4-4FC4-9E8F-BA3A610E8B4A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9pPr>
    </p:titleStyle>
    <p:bodyStyle>
      <a:lvl1pPr marL="228600" indent="-228600" algn="just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87564" y="1221050"/>
            <a:ext cx="11899900" cy="10493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INSTITUTE OF AERONAUTICAL ENGINEERING</a:t>
            </a:r>
            <a:br>
              <a:rPr lang="en-US" altLang="en-US" sz="4400" dirty="0"/>
            </a:b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(Autonomous)</a:t>
            </a:r>
            <a:b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Dundigal, Hyderabad - 500 043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665514" y="2382534"/>
            <a:ext cx="9144000" cy="532946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Academic Year: 2024-25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Department of Electronics And Communication Engineering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Four Review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l"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</a:t>
            </a:r>
            <a:r>
              <a:rPr lang="en-US" sz="1800" dirty="0"/>
              <a:t>Guided By: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                                                                                   </a:t>
            </a:r>
            <a:r>
              <a:rPr lang="en-US" alt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 . Radhika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Assistant Professor</a:t>
            </a:r>
            <a:endParaRPr lang="en-US" altLang="en-US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15452" y="3904854"/>
            <a:ext cx="9389483" cy="707886"/>
          </a:xfrm>
          <a:prstGeom prst="rect">
            <a:avLst/>
          </a:prstGeom>
          <a:noFill/>
          <a:ln>
            <a:solidFill>
              <a:srgbClr val="0070C0">
                <a:alpha val="9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Title : </a:t>
            </a:r>
            <a:r>
              <a:rPr lang="en-US" sz="2000" b="1" i="0" dirty="0">
                <a:solidFill>
                  <a:srgbClr val="212529"/>
                </a:solidFill>
                <a:effectLst/>
                <a:latin typeface="Source Sans Pro" panose="020B0503030403020204" pitchFamily="34" charset="0"/>
              </a:rPr>
              <a:t>Resistive Memory-Based In-Memory Computing: From Device and Large-Scale Integration System Perspectives</a:t>
            </a:r>
            <a:endParaRPr lang="en-IN" altLang="en-US" sz="2000" b="1" dirty="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2768" y="5046877"/>
            <a:ext cx="5979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</a:t>
            </a:r>
            <a:r>
              <a:rPr lang="en-US" dirty="0"/>
              <a:t>:</a:t>
            </a:r>
          </a:p>
          <a:p>
            <a:r>
              <a:rPr lang="en-US" dirty="0"/>
              <a:t>2</a:t>
            </a:r>
            <a:r>
              <a:rPr lang="en-IN" altLang="en-US" dirty="0"/>
              <a:t>3</a:t>
            </a:r>
            <a:r>
              <a:rPr lang="en-US" dirty="0"/>
              <a:t>955A0410: </a:t>
            </a:r>
            <a:r>
              <a:rPr lang="en-IN" dirty="0"/>
              <a:t>M. Lavanya</a:t>
            </a:r>
          </a:p>
          <a:p>
            <a:r>
              <a:rPr lang="en-IN" dirty="0"/>
              <a:t>22951A0496:E.Meghana</a:t>
            </a:r>
          </a:p>
          <a:p>
            <a:r>
              <a:rPr lang="en-IN" dirty="0"/>
              <a:t>22951A04A1:B.Kanth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45845" y="222196"/>
            <a:ext cx="2255618" cy="59531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Outline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38188" y="1077913"/>
            <a:ext cx="4729551" cy="5380129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AIM,OBJECTIVE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IMPLEMENTATION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BLOCK DIAGRAM</a:t>
            </a:r>
          </a:p>
          <a:p>
            <a:pPr eaLnBrk="1" hangingPunct="1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Methodology</a:t>
            </a:r>
          </a:p>
          <a:p>
            <a:pPr eaLnBrk="1" hangingPunct="1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CODE IMPLEMETATION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 AND DISCUSSIONS</a:t>
            </a:r>
          </a:p>
          <a:p>
            <a:pPr eaLnBrk="1" hangingPunct="1"/>
            <a:endParaRPr lang="en-US" alt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endParaRPr lang="en-US" altLang="en-US" sz="2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  <a:sym typeface="Wingdings" panose="05000000000000000000" pitchFamily="2" charset="2"/>
            </a:endParaRP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A074DF7-47DB-46BB-AFC0-963A22437EAC}" type="slidenum">
              <a:rPr lang="en-US" altLang="en-US"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35" y="138113"/>
            <a:ext cx="10611465" cy="595312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658" y="1236662"/>
            <a:ext cx="9767887" cy="438467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memory stores data by changing the resistance of a material. It offers advantages such as faster speeds, lower power consumption, and higher density compared to conventional memory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integrates processing capabilities directly into memory. By doing so, it reduces the need for data transfer between the CPU and memory, which can be a bottleneck in traditional computing architectures.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aspect focuses on the physical properties and performance of resistive memory devices, such as how they operate, their reliability, and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refers to how these resistive memory devices can be integrated into larger systems, including circuits and architectures, to enable efficient computing at scale.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138113"/>
            <a:ext cx="10798277" cy="595312"/>
          </a:xfrm>
        </p:spPr>
        <p:txBody>
          <a:bodyPr/>
          <a:lstStyle/>
          <a:p>
            <a:r>
              <a:rPr lang="en-US" dirty="0"/>
              <a:t>Abstract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025" y="1396365"/>
            <a:ext cx="10587990" cy="5061585"/>
          </a:xfrm>
        </p:spPr>
        <p:txBody>
          <a:bodyPr/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exponential growth of data and the need for faster processing capabilities have highlighted the limitations of traditional von Neumann computing architectures, where memory and processing units are separated.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explores the potential of resistive memory (ReRAM) technologies to facilitate in-memory computing, allowing data processing to occur directly within memory cells.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processing capabilities with data storage, resistive memory systems can significantly reduce latency and energy consumption associated with data transfer.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indicate that resistive memory-based in-memory computing systems offer substantial improvements in computational efficiency, positioning them as a viable solution for next-generation data-intensive applications. 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Open Sans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7A7F-C6D4-94FB-AE2B-E18962D1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AIM,OBJECTIVE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9E46-6CB2-4C2C-DB75-88CFF783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and evaluate the potential of resistive memory-based in-memory computing (IMC) technologies, focusing on both device-level characteristics and large-scale system integration, to address the challenges of conventional computing architectures.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fundamental properties and switching mechanisms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computational capabilities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integration strategies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challenges and potential solutions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real-world applications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6A5A2-A3BB-C3D6-0CE3-DF798F0D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71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21" y="139959"/>
            <a:ext cx="10280780" cy="593466"/>
          </a:xfrm>
        </p:spPr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136" y="979714"/>
            <a:ext cx="9942750" cy="4499056"/>
          </a:xfrm>
        </p:spPr>
        <p:txBody>
          <a:bodyPr/>
          <a:lstStyle/>
          <a:p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adoption of emerging RRAM technology demonstrates great potential in realizing more efficient computing systems, particularly for cognitive applications</a:t>
            </a:r>
            <a:r>
              <a:rPr lang="en-US" sz="2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i="1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large-scale integrated systems for real-world applications, however, there are still many key challenges to be solved, such as the imbalance between the limited device number and the increasing size of neural network models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difficulty in realizing online training schemes, the automation flow to transfer an algorithm to the given hardware platform, as well as the device robustness and system reliability issues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 is impossible to overcome them solely at a device level, while mitigation from circuits, systems, and even algorithms might be the only solution.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B80C-9A7C-21A1-E03D-87BF3059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IMPLEMENTATION: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7DC94-47DF-F2B6-E818-356672C3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B82944-01D4-F013-3781-1170E32EC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40222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F6C3D2-ACE3-7BFA-14A3-9FA1FF81D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13" y="3890963"/>
            <a:ext cx="9767887" cy="48180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B146D8F-ED3C-006E-FD36-C85C1DA1F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7434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2C1F998-CEFF-F806-91D0-03FA8A6C8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838" y="-1056265"/>
            <a:ext cx="10759286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limitations of traditional computing architectures and identify the need for in-memory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computing using resistive memory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different types of resistive memory such as resistive RAM, phase-change memory,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Magneto-resistive RAM, focusing on their working principles, switching mechanisms, and material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Investigate how resistive memory can perform logic and arithmetic operations by leveraging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resistance states for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small-scale resistive memory-based in-memory computing model at the device level, incorporating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 such as switching speed, endurance, and power consumption.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simulations to evaluate the memory cell behavior and its ability to execute basic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tasks like matrix-vector multiplication and logic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the integration of resistive memory into large-scale computing systems,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considering factors like array organization, read/write circuitry, and interconnect challenges.</a:t>
            </a:r>
          </a:p>
        </p:txBody>
      </p:sp>
    </p:spTree>
    <p:extLst>
      <p:ext uri="{BB962C8B-B14F-4D97-AF65-F5344CB8AC3E}">
        <p14:creationId xmlns:p14="http://schemas.microsoft.com/office/powerpoint/2010/main" val="119393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6D90-BD59-E5D8-B9DE-DFF7C51F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25" y="138113"/>
            <a:ext cx="10393775" cy="595312"/>
          </a:xfrm>
        </p:spPr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and </a:t>
            </a:r>
            <a:r>
              <a:rPr lang="en-US" dirty="0" err="1"/>
              <a:t>verilog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1749-90B2-35F9-E200-938021E8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13" y="4491038"/>
            <a:ext cx="9767887" cy="481806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2000" dirty="0"/>
          </a:p>
          <a:p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876E1-0FA8-F6CF-759D-384DF308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85E95A-29BA-F335-6B43-9C5C33E36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041" y="3364914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1A07BA6-4042-B136-960B-EAA036306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93" y="-693123"/>
            <a:ext cx="1046396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and simulate the behavior of resistive memory devices in various computational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logic operations and matrix-vector multiplication.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 built-in functions for matrix operations, signal processing, and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memory-based computations.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 system-level designs by integrating resistive memory with other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components, assessing performance metrics like power consumption, latency, and throughout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performance data through graphs and plots to analyze power vs. latency and other simulation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algorithms for testing on resistive memory systems to analyze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accuracy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MATLAB with circuit simulators (e.g., Simulink) to validate resistive memory circuit behaviors. </a:t>
            </a:r>
          </a:p>
        </p:txBody>
      </p:sp>
    </p:spTree>
    <p:extLst>
      <p:ext uri="{BB962C8B-B14F-4D97-AF65-F5344CB8AC3E}">
        <p14:creationId xmlns:p14="http://schemas.microsoft.com/office/powerpoint/2010/main" val="382713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42F0-71F0-6EE1-DDB9-C38A1678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8B0B4-472E-40C5-D22C-FCA7BA53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9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F96D28-FF40-65C0-6087-AF748253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331" y="1298522"/>
            <a:ext cx="4046571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4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0EE4-B4C4-EC17-EE60-BBD86735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 DETAILS: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C2A19-DE06-CE8C-95F7-D4F3CF18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10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7C757-9722-104E-DEF0-B35952C5B2AC}"/>
              </a:ext>
            </a:extLst>
          </p:cNvPr>
          <p:cNvSpPr txBox="1"/>
          <p:nvPr/>
        </p:nvSpPr>
        <p:spPr>
          <a:xfrm>
            <a:off x="914399" y="1138336"/>
            <a:ext cx="10468947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Device Modeling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electrical behavior of the RRAM device is captured, including ON/OFF ratio, switching energy, and retention.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 mathematical model is created to represent its characteristics.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becomes the foundation for later circuit-level simulations.</a:t>
            </a:r>
          </a:p>
          <a:p>
            <a:pPr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SPICE Simulation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modeled device is simulated using tools like SPICE to analyze real electrical behavior.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operations, voltage drops, and sneak-path effects are evaluated.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helps verify device functionality before integration into larger arrays.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Array/Circuit-Level Behavior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RRAM cells are organized into a crossbar array for computation.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Vector-matrix multiplication accuracy, energy efficiency, and scalability are assessed.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connects device performance to practical circuit-level functionality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51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7AC-161B-838C-D747-DC78C393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99" y="138113"/>
            <a:ext cx="10318102" cy="595312"/>
          </a:xfrm>
        </p:spPr>
        <p:txBody>
          <a:bodyPr/>
          <a:lstStyle/>
          <a:p>
            <a:r>
              <a:rPr lang="en-US" dirty="0"/>
              <a:t>BLOCK DIAGRAM DETAILS: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D5EBB-E6F5-0A7E-E1A8-4D7776DA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11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6929B-6110-3D92-5E62-527E93C764AE}"/>
              </a:ext>
            </a:extLst>
          </p:cNvPr>
          <p:cNvSpPr txBox="1"/>
          <p:nvPr/>
        </p:nvSpPr>
        <p:spPr>
          <a:xfrm>
            <a:off x="961055" y="1136418"/>
            <a:ext cx="82505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System-Level Inference Simulation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crossbar is tested with real workloads using platforms like MATLAB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mapped onto the array to analyze inference accuracy.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variability, noise, and degradation effects are evaluated at application level.</a:t>
            </a:r>
          </a:p>
        </p:txBody>
      </p:sp>
    </p:spTree>
    <p:extLst>
      <p:ext uri="{BB962C8B-B14F-4D97-AF65-F5344CB8AC3E}">
        <p14:creationId xmlns:p14="http://schemas.microsoft.com/office/powerpoint/2010/main" val="297302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A375-B882-8B69-BA8C-87449A19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Methodology (Conventional &amp; Early IMC)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7625-C1C9-FBA0-7DB6-3D2B86AD9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separate memory and processor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data transfer causes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 bottleneck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and power consumption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CMOS logic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area, low energy efficiency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In-Memory Computing existed mainly as: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architectures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models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memory or computation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both together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demonstration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logic + arithmetic functions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 due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movement, variability, and power limits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64AA-220F-ED98-A092-86ECC81E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01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31E8-F168-9247-45A2-42208D72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65" y="111967"/>
            <a:ext cx="10206135" cy="621458"/>
          </a:xfrm>
        </p:spPr>
        <p:txBody>
          <a:bodyPr/>
          <a:lstStyle/>
          <a:p>
            <a:r>
              <a:rPr lang="en-IN" dirty="0"/>
              <a:t>Limitations of Existing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58117-4048-16FD-69A6-5570E5B0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13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C579D5-4548-8F72-F5D0-9F300C175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781" y="1157177"/>
            <a:ext cx="97131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and logic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fully integrated at device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Mostly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either digital logic or analog computing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both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circuit-level examples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(adder, MUX,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suitability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large-scale AI and neuromorphic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Area, energy, and speed constraints remain unsolved</a:t>
            </a:r>
          </a:p>
        </p:txBody>
      </p:sp>
    </p:spTree>
    <p:extLst>
      <p:ext uri="{BB962C8B-B14F-4D97-AF65-F5344CB8AC3E}">
        <p14:creationId xmlns:p14="http://schemas.microsoft.com/office/powerpoint/2010/main" val="3245671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02B9-78F9-537F-4EF5-A1462430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7" y="138113"/>
            <a:ext cx="10047514" cy="595312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F1306-2DEB-1BF2-AF96-52412FF4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12E6DA-B59D-5B62-DE8B-40983559DB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714" y="1092792"/>
            <a:ext cx="99168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RRAM-based In-Memory Computing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+ computation merged in the same physical device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 states represent data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perform computation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Ohm’s Law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Kirchhoff’s Current Law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parallel vector–matrix multiplication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inside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digital and analog operations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26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AB2B-43BC-F753-B65B-B9AAEBBF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IMPLEMENTATION: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7FA57-7D25-64E5-ACA5-2689C9A8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D265E-81F7-8BBC-9844-5D78BB424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208" y="1041317"/>
            <a:ext cx="53560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memristor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B350F-1962-3BD3-6333-35560BB20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25" y="1552825"/>
            <a:ext cx="9121723" cy="48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36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47AD-AF4C-4C3D-D7E6-A8742B69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IMPLEMENTATION: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28EC-BC7B-FCA1-C2AF-7C72F616A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14" y="1122947"/>
            <a:ext cx="9934574" cy="5596940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matrix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014A1-421A-55E1-EAC0-3ABCAA3B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8D976-774B-E2EB-34F2-E8B87FDBD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68" y="1670180"/>
            <a:ext cx="10315886" cy="439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24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0F99-6A75-6659-7C6C-BF325812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IMPLEMENTATION: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DE649-9C0D-21AE-57D5-EA82B3662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13" y="1090613"/>
            <a:ext cx="10020550" cy="5486650"/>
          </a:xfrm>
        </p:spPr>
        <p:txBody>
          <a:bodyPr/>
          <a:lstStyle/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adder In ADC: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E2590-BBCB-A887-36E7-1CD13D52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DCF14-033C-5485-E59A-C7FA2848B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48" y="1422574"/>
            <a:ext cx="9915152" cy="485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1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5C3A-F696-99B5-F6CB-6EBE8260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IMPLEMENTATION: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688C1-496F-E6A8-BEFA-F03AE40D0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786" y="1361201"/>
            <a:ext cx="9767887" cy="4818062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in DC: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FC5E2-B50D-462F-DDBF-C8E52275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EEC67-56BD-FC14-21ED-FD7579D78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36" y="1747037"/>
            <a:ext cx="9294214" cy="477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22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C7C0-0DDE-0947-0A9E-A2AD7F11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AND DISCUSSION: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741B-34FB-107B-1B37-517FCC04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6E056-3901-41CB-802B-E67DADB7F3B2}" type="slidenum">
              <a:rPr lang="en-US" altLang="en-US" smtClean="0"/>
              <a:t>19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4F7A10-6F91-326B-1560-82BB76912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8713" y="868161"/>
            <a:ext cx="1093876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simulations demonstrate that resistive memory-based in-memory computing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reduces power consumption and latency compared to traditional memory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integrated resistive memory system achieves high parallelism,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enabling faster execution of computation-heavy tasks..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power consumption analysis reveals that resistive memory offers substantial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energy savings due to reduced data transfer and the ability to perform computations directly in memory.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Identified: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challenges were observed, such as variability in device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non-ideal resistive switching and limited endurance in some resistive memory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Integration Issues: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resistive memory has significant potential, scaling to large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and integrating with traditional processing units poses challenges, including managing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interconnects and maintaining signal integrity.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696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8EB0-56C4-8C59-C23C-5C81B5D5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8D53A98-9F0A-E316-8ABC-9CCA8001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45" y="222196"/>
            <a:ext cx="2255618" cy="59531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References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52C027F3-E5DA-9871-499D-0A56A07DF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87" y="1780674"/>
            <a:ext cx="10459202" cy="380197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[1] J. Von Neumann, The Computer and the Brain, Yale University Press,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New Haven, 2012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[2] J. L. Hennessy, D. A. Patterson, Computer Architecture: A Quantitative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Approach, Elsevier, Burlington, MA 2011.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[3] D. </a:t>
            </a:r>
            <a:r>
              <a:rPr lang="en-US" altLang="en-US" sz="20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Kuzum</a:t>
            </a: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, R. G. D. </a:t>
            </a:r>
            <a:r>
              <a:rPr lang="en-US" altLang="en-US" sz="20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Jeyasingh</a:t>
            </a: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, B. Lee, H.-S. P. Wong, Nano Lett. 2011,</a:t>
            </a:r>
          </a:p>
          <a:p>
            <a:pPr marL="0" indent="0" eaLnBrk="1" hangingPunct="1">
              <a:buNone/>
            </a:pPr>
            <a:r>
              <a:rPr lang="en-US" alt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Wingdings" panose="05000000000000000000" pitchFamily="2" charset="2"/>
              </a:rPr>
              <a:t>12, 2179.</a:t>
            </a:r>
          </a:p>
        </p:txBody>
      </p:sp>
      <p:sp>
        <p:nvSpPr>
          <p:cNvPr id="6150" name="Slide Number Placeholder 5">
            <a:extLst>
              <a:ext uri="{FF2B5EF4-FFF2-40B4-BE49-F238E27FC236}">
                <a16:creationId xmlns:a16="http://schemas.microsoft.com/office/drawing/2014/main" id="{F5C624D4-FB30-05F8-2481-74443A5F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A074DF7-47DB-46BB-AFC0-963A22437EAC}" type="slidenum">
              <a:rPr lang="en-US" altLang="en-US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163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D0875F05-5E2C-49B8-9428-2F9C627CBDFB}" type="slidenum">
              <a:rPr lang="en-US" altLang="en-US"/>
              <a:t>21</a:t>
            </a:fld>
            <a:endParaRPr lang="en-US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98085" y="2855188"/>
            <a:ext cx="10810738" cy="595312"/>
          </a:xfrm>
        </p:spPr>
        <p:txBody>
          <a:bodyPr/>
          <a:lstStyle/>
          <a:p>
            <a:pPr algn="ctr"/>
            <a:r>
              <a:rPr lang="en-US" sz="4400" dirty="0"/>
              <a:t>THANK YOU………..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hinni's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1442</Words>
  <Application>Microsoft Office PowerPoint</Application>
  <PresentationFormat>Widescreen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Bookman Old Style</vt:lpstr>
      <vt:lpstr>Calibri</vt:lpstr>
      <vt:lpstr>Cambria</vt:lpstr>
      <vt:lpstr>Open Sans</vt:lpstr>
      <vt:lpstr>Source Sans Pro</vt:lpstr>
      <vt:lpstr>Times New Roman</vt:lpstr>
      <vt:lpstr>Office Theme</vt:lpstr>
      <vt:lpstr>INSTITUTE OF AERONAUTICAL ENGINEERING (Autonomous) Dundigal, Hyderabad - 500 043</vt:lpstr>
      <vt:lpstr>Outline</vt:lpstr>
      <vt:lpstr>Introduction</vt:lpstr>
      <vt:lpstr>Abstract </vt:lpstr>
      <vt:lpstr>AIM,OBJECTIVE</vt:lpstr>
      <vt:lpstr>Problem Statement </vt:lpstr>
      <vt:lpstr>PROJECT IMPLEMENTATION:</vt:lpstr>
      <vt:lpstr>Matlab and verilog:</vt:lpstr>
      <vt:lpstr>BLOCK DIAGRAM:</vt:lpstr>
      <vt:lpstr>BLOCK DIAGRAM DETAILS:</vt:lpstr>
      <vt:lpstr>BLOCK DIAGRAM DETAILS:</vt:lpstr>
      <vt:lpstr>Existing Methodology (Conventional &amp; Early IMC)</vt:lpstr>
      <vt:lpstr>Limitations of Existing Approaches</vt:lpstr>
      <vt:lpstr>Proposed Methodology</vt:lpstr>
      <vt:lpstr>CODE IMPLEMENTATION:</vt:lpstr>
      <vt:lpstr>CODE IMPLEMENTATION:</vt:lpstr>
      <vt:lpstr>CODE IMPLEMENTATION:</vt:lpstr>
      <vt:lpstr>CODE IMPLEMENTATION:</vt:lpstr>
      <vt:lpstr>RESULT AND DISCUSSION:</vt:lpstr>
      <vt:lpstr>References</vt:lpstr>
      <vt:lpstr>THANK YOU………..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Uday Kiran</dc:creator>
  <cp:lastModifiedBy>Lavanya Maloth</cp:lastModifiedBy>
  <cp:revision>423</cp:revision>
  <dcterms:created xsi:type="dcterms:W3CDTF">2022-01-24T13:25:00Z</dcterms:created>
  <dcterms:modified xsi:type="dcterms:W3CDTF">2026-04-21T07:52:40Z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DD4498BF7BFE4AA6A422D50E65DF453E_12</vt:lpwstr>
  </property>
  <property fmtid="{D5CDD505-2E9C-101B-9397-08002B2CF9AE}" pid="3" name="KSOProductBuildVer">
    <vt:lpwstr>1033-12.2.0.18607</vt:lpwstr>
  </property>
</Properties>
</file>